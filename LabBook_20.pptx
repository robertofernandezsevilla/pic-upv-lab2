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5"/>
  </p:notesMasterIdLst>
  <p:handoutMasterIdLst>
    <p:handoutMasterId r:id="rId26"/>
  </p:handoutMasterIdLst>
  <p:sldIdLst>
    <p:sldId id="256" r:id="rId2"/>
    <p:sldId id="289" r:id="rId3"/>
    <p:sldId id="295" r:id="rId4"/>
    <p:sldId id="302" r:id="rId5"/>
    <p:sldId id="304" r:id="rId6"/>
    <p:sldId id="305" r:id="rId7"/>
    <p:sldId id="303" r:id="rId8"/>
    <p:sldId id="307" r:id="rId9"/>
    <p:sldId id="308" r:id="rId10"/>
    <p:sldId id="309" r:id="rId11"/>
    <p:sldId id="310" r:id="rId12"/>
    <p:sldId id="306" r:id="rId13"/>
    <p:sldId id="291" r:id="rId14"/>
    <p:sldId id="296" r:id="rId15"/>
    <p:sldId id="294" r:id="rId16"/>
    <p:sldId id="299" r:id="rId17"/>
    <p:sldId id="300" r:id="rId18"/>
    <p:sldId id="301" r:id="rId19"/>
    <p:sldId id="297" r:id="rId20"/>
    <p:sldId id="290" r:id="rId21"/>
    <p:sldId id="292" r:id="rId22"/>
    <p:sldId id="298" r:id="rId23"/>
    <p:sldId id="288" r:id="rId24"/>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109"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1B4D0-E4AD-216D-42AF-47F1027FDEC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1BAE3D2-9EA9-0AB8-704B-03F77898518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82509A8-A362-C526-2713-D05F287ED12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815D53-0397-C001-800E-4F6DFC2E8D3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609085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7CCA2-7BEF-0258-EFCA-52A26BE3363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E21C7B-8139-6389-A1B8-94FF67BBA47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45D2B71-A961-821D-986A-D437EAE4AF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C4185C8-F52D-D28C-842D-E507FE8F901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590702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55F21-FA4E-0D24-7D32-402600FC3A5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B888DE3-6423-6489-D25A-920369CF430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70B5356-1664-56CA-2874-49D792139A2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322968-BBF8-0845-02DC-3816A8C4C53D}"/>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309850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58074-EC59-2B35-024F-DBEFD5203E0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C631469-6B07-B8A7-195E-A7B011D2CAA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9B1944-F96C-4008-6995-EED54323686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AFB46D-2969-B6ED-4B58-D9BA3CCE93F3}"/>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495215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A064-D510-EDA8-C264-6578DA7735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9D7DAD6-2B1C-C1F8-FFCF-85CF5DAC01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D717E5F-1CC5-E145-EF5D-B7B958685DD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00A6770-EAAD-3BE8-D0D4-3C23516A30E1}"/>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3415027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04F9B-E62C-BD6E-D62E-E886644D2BC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6EA60F-BFBE-0E82-A107-13C886E8AD3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9E11DDB-09F9-215E-9D18-5BC00822D2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F5BA00C-F944-B79D-5D41-3E14822722D8}"/>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41286085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404D6-A68F-7AA5-88D5-0A6E00CBD4C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A071F5-A712-B01C-9071-3E858FFA4A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1F722B1-DB41-5053-E833-40101C92CB7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D9141A5-1127-E626-A088-5FBC3DA4DD14}"/>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9036725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r>
              <a:rPr lang="en-US" sz="1200" dirty="0">
                <a:latin typeface="Arial" panose="020B0604020202020204" pitchFamily="34" charset="0"/>
                <a:cs typeface="Arial" panose="020B0604020202020204" pitchFamily="34" charset="0"/>
              </a:rPr>
              <a:t>##Gráfico de </a:t>
            </a:r>
            <a:r>
              <a:rPr lang="en-US" sz="1200" dirty="0" err="1">
                <a:latin typeface="Arial" panose="020B0604020202020204" pitchFamily="34" charset="0"/>
                <a:cs typeface="Arial" panose="020B0604020202020204" pitchFamily="34" charset="0"/>
              </a:rPr>
              <a:t>diseño</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directiona</a:t>
            </a:r>
            <a:r>
              <a:rPr lang="en-US" sz="1200" dirty="0">
                <a:latin typeface="Arial" panose="020B0604020202020204" pitchFamily="34" charset="0"/>
                <a:cs typeface="Arial" panose="020B0604020202020204" pitchFamily="34" charset="0"/>
              </a:rPr>
              <a:t> coupler.</a:t>
            </a:r>
          </a:p>
          <a:p>
            <a:pPr algn="just"/>
            <a:r>
              <a:rPr lang="en-US" sz="1200" dirty="0">
                <a:latin typeface="Arial" panose="020B0604020202020204" pitchFamily="34" charset="0"/>
                <a:cs typeface="Arial" panose="020B0604020202020204" pitchFamily="34" charset="0"/>
              </a:rPr>
              <a:t>## TENEMOS QUE HACE K VS L/</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#será un </a:t>
            </a:r>
            <a:r>
              <a:rPr lang="en-US" sz="1200" dirty="0" err="1">
                <a:latin typeface="Arial" panose="020B0604020202020204" pitchFamily="34" charset="0"/>
                <a:cs typeface="Arial" panose="020B0604020202020204" pitchFamily="34" charset="0"/>
              </a:rPr>
              <a:t>numero</a:t>
            </a:r>
            <a:r>
              <a:rPr lang="en-US" sz="1200" dirty="0">
                <a:latin typeface="Arial" panose="020B0604020202020204" pitchFamily="34" charset="0"/>
                <a:cs typeface="Arial" panose="020B0604020202020204" pitchFamily="34" charset="0"/>
              </a:rPr>
              <a:t> entre 0 y 1 </a:t>
            </a:r>
          </a:p>
          <a:p>
            <a:pPr algn="just"/>
            <a:r>
              <a:rPr lang="en-US" sz="1200" dirty="0">
                <a:latin typeface="Arial" panose="020B0604020202020204" pitchFamily="34" charset="0"/>
                <a:cs typeface="Arial" panose="020B0604020202020204" pitchFamily="34" charset="0"/>
              </a:rPr>
              <a:t>##Dependiendo de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#calculamos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de TE y Tm y </a:t>
            </a:r>
            <a:r>
              <a:rPr lang="en-US" sz="1200" dirty="0" err="1">
                <a:latin typeface="Arial" panose="020B0604020202020204" pitchFamily="34" charset="0"/>
                <a:cs typeface="Arial" panose="020B0604020202020204" pitchFamily="34" charset="0"/>
              </a:rPr>
              <a:t>damos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arbitrarios</a:t>
            </a:r>
            <a:r>
              <a:rPr lang="en-US" sz="1200" dirty="0">
                <a:latin typeface="Arial" panose="020B0604020202020204" pitchFamily="34" charset="0"/>
                <a:cs typeface="Arial" panose="020B0604020202020204" pitchFamily="34" charset="0"/>
              </a:rPr>
              <a:t> a L. </a:t>
            </a:r>
            <a:r>
              <a:rPr lang="en-US" sz="1200" dirty="0" err="1">
                <a:latin typeface="Arial" panose="020B0604020202020204" pitchFamily="34" charset="0"/>
                <a:cs typeface="Arial" panose="020B0604020202020204" pitchFamily="34" charset="0"/>
              </a:rPr>
              <a:t>Ploteamos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específicos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queremos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10%,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o 80%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ejemplo</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C92CD-23BF-6BA8-FC9C-973384A919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24F41BD-F54D-798D-62DF-D9F2EA5AF8D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A59B396-1E35-4456-CCC7-8464FD69A98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38FAD19-943E-C775-7E52-B897317C6EAF}"/>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23DB345-3DE0-7E82-B076-5EA38A66803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EE11EC4-A585-33ED-C778-AAB2BD46B27E}"/>
              </a:ext>
            </a:extLst>
          </p:cNvPr>
          <p:cNvSpPr txBox="1"/>
          <p:nvPr/>
        </p:nvSpPr>
        <p:spPr>
          <a:xfrm>
            <a:off x="609441" y="4860334"/>
            <a:ext cx="11199971" cy="1138773"/>
          </a:xfrm>
          <a:prstGeom prst="rect">
            <a:avLst/>
          </a:prstGeom>
          <a:solidFill>
            <a:schemeClr val="bg1">
              <a:lumMod val="95000"/>
            </a:schemeClr>
          </a:solidFill>
          <a:ln w="28575">
            <a:solidFill>
              <a:srgbClr val="E0700D"/>
            </a:solidFill>
          </a:ln>
        </p:spPr>
        <p:txBody>
          <a:bodyPr wrap="square" rtlCol="0">
            <a:spAutoFit/>
          </a:bodyPr>
          <a:lstStyle/>
          <a:p>
            <a:pPr algn="just"/>
            <a:r>
              <a:rPr lang="en-US" sz="2000" dirty="0">
                <a:latin typeface="Arial" panose="020B0604020202020204" pitchFamily="34" charset="0"/>
                <a:cs typeface="Arial" panose="020B0604020202020204" pitchFamily="34" charset="0"/>
              </a:rPr>
              <a:t>Para </a:t>
            </a:r>
            <a:r>
              <a:rPr lang="en-US" sz="2000" dirty="0" err="1">
                <a:latin typeface="Arial" panose="020B0604020202020204" pitchFamily="34" charset="0"/>
                <a:cs typeface="Arial" panose="020B0604020202020204" pitchFamily="34" charset="0"/>
              </a:rPr>
              <a:t>el</a:t>
            </a:r>
            <a:r>
              <a:rPr lang="en-US" sz="2000" dirty="0">
                <a:latin typeface="Arial" panose="020B0604020202020204" pitchFamily="34" charset="0"/>
                <a:cs typeface="Arial" panose="020B0604020202020204" pitchFamily="34" charset="0"/>
              </a:rPr>
              <a:t> modo TE la </a:t>
            </a:r>
            <a:r>
              <a:rPr lang="en-US" sz="2000" dirty="0" err="1">
                <a:latin typeface="Arial" panose="020B0604020202020204" pitchFamily="34" charset="0"/>
                <a:cs typeface="Arial" panose="020B0604020202020204" pitchFamily="34" charset="0"/>
              </a:rPr>
              <a:t>distancia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Lpi</a:t>
            </a:r>
            <a:r>
              <a:rPr lang="en-US" sz="2000" dirty="0">
                <a:latin typeface="Arial" panose="020B0604020202020204" pitchFamily="34" charset="0"/>
                <a:cs typeface="Arial" panose="020B0604020202020204" pitchFamily="34" charset="0"/>
              </a:rPr>
              <a:t> es </a:t>
            </a:r>
            <a:r>
              <a:rPr lang="es-ES" sz="2000" dirty="0"/>
              <a:t>94.02742605178902 </a:t>
            </a:r>
            <a:r>
              <a:rPr lang="es-ES" sz="2000" dirty="0" err="1"/>
              <a:t>um</a:t>
            </a:r>
            <a:r>
              <a:rPr lang="es-ES" sz="2000" dirty="0"/>
              <a:t>. A partir de la gráfica y de los valores mostrados podemos ver diferentes valores de acoplo para distintas longitudes.</a:t>
            </a:r>
            <a:r>
              <a:rPr lang="es-ES" sz="2400" dirty="0"/>
              <a:t> </a:t>
            </a:r>
            <a:endParaRPr lang="en-US" sz="2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5" name="Imagen 4" descr="Gráfico, Gráfico de líneas&#10;&#10;El contenido generado por IA puede ser incorrecto.">
            <a:extLst>
              <a:ext uri="{FF2B5EF4-FFF2-40B4-BE49-F238E27FC236}">
                <a16:creationId xmlns:a16="http://schemas.microsoft.com/office/drawing/2014/main" id="{A03D40F9-1A83-8E42-33BB-4B16D4B3362D}"/>
              </a:ext>
            </a:extLst>
          </p:cNvPr>
          <p:cNvPicPr>
            <a:picLocks noChangeAspect="1"/>
          </p:cNvPicPr>
          <p:nvPr/>
        </p:nvPicPr>
        <p:blipFill>
          <a:blip r:embed="rId5"/>
          <a:stretch>
            <a:fillRect/>
          </a:stretch>
        </p:blipFill>
        <p:spPr>
          <a:xfrm>
            <a:off x="607132" y="1270332"/>
            <a:ext cx="4267200" cy="3433874"/>
          </a:xfrm>
          <a:prstGeom prst="rect">
            <a:avLst/>
          </a:prstGeom>
        </p:spPr>
      </p:pic>
      <p:pic>
        <p:nvPicPr>
          <p:cNvPr id="12" name="Imagen 11" descr="Texto&#10;&#10;El contenido generado por IA puede ser incorrecto.">
            <a:extLst>
              <a:ext uri="{FF2B5EF4-FFF2-40B4-BE49-F238E27FC236}">
                <a16:creationId xmlns:a16="http://schemas.microsoft.com/office/drawing/2014/main" id="{FB8DF95B-9226-95C3-6CDD-F4FE03A75DC6}"/>
              </a:ext>
            </a:extLst>
          </p:cNvPr>
          <p:cNvPicPr>
            <a:picLocks noChangeAspect="1"/>
          </p:cNvPicPr>
          <p:nvPr/>
        </p:nvPicPr>
        <p:blipFill>
          <a:blip r:embed="rId6"/>
          <a:stretch>
            <a:fillRect/>
          </a:stretch>
        </p:blipFill>
        <p:spPr>
          <a:xfrm>
            <a:off x="5486400" y="2197744"/>
            <a:ext cx="3915321" cy="1505160"/>
          </a:xfrm>
          <a:prstGeom prst="rect">
            <a:avLst/>
          </a:prstGeom>
        </p:spPr>
      </p:pic>
    </p:spTree>
    <p:extLst>
      <p:ext uri="{BB962C8B-B14F-4D97-AF65-F5344CB8AC3E}">
        <p14:creationId xmlns:p14="http://schemas.microsoft.com/office/powerpoint/2010/main" val="164318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F07DF-67EC-231B-CE68-63AAE3A6BBC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C83E91E-1C8B-4B46-9847-4F0E98155927}"/>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3FF5B1A-9757-F11A-4896-CA304AC31B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DC88163-F275-C7AD-6357-FFFC65805CC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7B36EAFD-E06B-1BD5-CD95-2912B9381ED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913A367E-F49C-FF2E-A6A6-92B326A0F17F}"/>
              </a:ext>
            </a:extLst>
          </p:cNvPr>
          <p:cNvSpPr txBox="1"/>
          <p:nvPr/>
        </p:nvSpPr>
        <p:spPr>
          <a:xfrm>
            <a:off x="609441" y="4860334"/>
            <a:ext cx="11199971" cy="1415772"/>
          </a:xfrm>
          <a:prstGeom prst="rect">
            <a:avLst/>
          </a:prstGeom>
          <a:solidFill>
            <a:schemeClr val="bg1">
              <a:lumMod val="95000"/>
            </a:schemeClr>
          </a:solidFill>
          <a:ln w="28575">
            <a:solidFill>
              <a:srgbClr val="E0700D"/>
            </a:solidFill>
          </a:ln>
        </p:spPr>
        <p:txBody>
          <a:bodyPr wrap="square" rtlCol="0">
            <a:spAutoFit/>
          </a:bodyPr>
          <a:lstStyle/>
          <a:p>
            <a:pPr algn="just"/>
            <a:r>
              <a:rPr lang="en-US" dirty="0">
                <a:latin typeface="Arial" panose="020B0604020202020204" pitchFamily="34" charset="0"/>
                <a:cs typeface="Arial" panose="020B0604020202020204" pitchFamily="34" charset="0"/>
              </a:rPr>
              <a:t>Para </a:t>
            </a:r>
            <a:r>
              <a:rPr lang="en-US" dirty="0" err="1">
                <a:latin typeface="Arial" panose="020B0604020202020204" pitchFamily="34" charset="0"/>
                <a:cs typeface="Arial" panose="020B0604020202020204" pitchFamily="34" charset="0"/>
              </a:rPr>
              <a:t>el</a:t>
            </a:r>
            <a:r>
              <a:rPr lang="en-US" dirty="0">
                <a:latin typeface="Arial" panose="020B0604020202020204" pitchFamily="34" charset="0"/>
                <a:cs typeface="Arial" panose="020B0604020202020204" pitchFamily="34" charset="0"/>
              </a:rPr>
              <a:t> modo TM la </a:t>
            </a:r>
            <a:r>
              <a:rPr lang="en-US" dirty="0" err="1">
                <a:latin typeface="Arial" panose="020B0604020202020204" pitchFamily="34" charset="0"/>
                <a:cs typeface="Arial" panose="020B0604020202020204" pitchFamily="34" charset="0"/>
              </a:rPr>
              <a:t>distancia</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Lpi</a:t>
            </a:r>
            <a:r>
              <a:rPr lang="en-US" dirty="0">
                <a:latin typeface="Arial" panose="020B0604020202020204" pitchFamily="34" charset="0"/>
                <a:cs typeface="Arial" panose="020B0604020202020204" pitchFamily="34" charset="0"/>
              </a:rPr>
              <a:t> es </a:t>
            </a:r>
            <a:r>
              <a:rPr lang="es-ES" dirty="0"/>
              <a:t>52.333166163349475 </a:t>
            </a:r>
            <a:r>
              <a:rPr lang="es-ES" dirty="0" err="1"/>
              <a:t>um</a:t>
            </a:r>
            <a:r>
              <a:rPr lang="es-ES" dirty="0"/>
              <a:t>. A partir de la gráfica y de los valores mostrados podemos ver diferentes valores de acoplo para distintas longitudes.</a:t>
            </a:r>
            <a:r>
              <a:rPr lang="es-ES" sz="2000" dirty="0"/>
              <a:t> </a:t>
            </a:r>
            <a:endParaRPr lang="en-US"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3AB508F2-111D-C599-748A-6C1409730D3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85800" y="1323338"/>
            <a:ext cx="4267200" cy="3379393"/>
          </a:xfrm>
          <a:prstGeom prst="rect">
            <a:avLst/>
          </a:prstGeom>
        </p:spPr>
      </p:pic>
      <p:pic>
        <p:nvPicPr>
          <p:cNvPr id="6" name="Imagen 5" descr="Texto&#10;&#10;El contenido generado por IA puede ser incorrecto.">
            <a:extLst>
              <a:ext uri="{FF2B5EF4-FFF2-40B4-BE49-F238E27FC236}">
                <a16:creationId xmlns:a16="http://schemas.microsoft.com/office/drawing/2014/main" id="{E89282C8-5E41-89A8-671F-54801DA62EE9}"/>
              </a:ext>
            </a:extLst>
          </p:cNvPr>
          <p:cNvPicPr>
            <a:picLocks noChangeAspect="1"/>
          </p:cNvPicPr>
          <p:nvPr/>
        </p:nvPicPr>
        <p:blipFill>
          <a:blip r:embed="rId6"/>
          <a:stretch>
            <a:fillRect/>
          </a:stretch>
        </p:blipFill>
        <p:spPr>
          <a:xfrm>
            <a:off x="5472529" y="2309315"/>
            <a:ext cx="3839111" cy="1305107"/>
          </a:xfrm>
          <a:prstGeom prst="rect">
            <a:avLst/>
          </a:prstGeom>
        </p:spPr>
      </p:pic>
    </p:spTree>
    <p:extLst>
      <p:ext uri="{BB962C8B-B14F-4D97-AF65-F5344CB8AC3E}">
        <p14:creationId xmlns:p14="http://schemas.microsoft.com/office/powerpoint/2010/main" val="1728017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CCAD81D1-C3A5-0964-EAC0-85E45ABA791C}"/>
              </a:ext>
            </a:extLst>
          </p:cNvPr>
          <p:cNvPicPr>
            <a:picLocks noChangeAspect="1"/>
          </p:cNvPicPr>
          <p:nvPr/>
        </p:nvPicPr>
        <p:blipFill>
          <a:blip r:embed="rId5"/>
          <a:stretch>
            <a:fillRect/>
          </a:stretch>
        </p:blipFill>
        <p:spPr>
          <a:xfrm>
            <a:off x="838200" y="1600200"/>
            <a:ext cx="2410161" cy="209579"/>
          </a:xfrm>
          <a:prstGeom prst="rect">
            <a:avLst/>
          </a:prstGeom>
        </p:spPr>
      </p:pic>
      <p:pic>
        <p:nvPicPr>
          <p:cNvPr id="9" name="Imagen 8" descr="Texto&#10;&#10;El contenido generado por IA puede ser incorrecto.">
            <a:extLst>
              <a:ext uri="{FF2B5EF4-FFF2-40B4-BE49-F238E27FC236}">
                <a16:creationId xmlns:a16="http://schemas.microsoft.com/office/drawing/2014/main" id="{F901F69A-44DF-236E-2D70-12DF3840BEDC}"/>
              </a:ext>
            </a:extLst>
          </p:cNvPr>
          <p:cNvPicPr>
            <a:picLocks noChangeAspect="1"/>
          </p:cNvPicPr>
          <p:nvPr/>
        </p:nvPicPr>
        <p:blipFill>
          <a:blip r:embed="rId6"/>
          <a:stretch>
            <a:fillRect/>
          </a:stretch>
        </p:blipFill>
        <p:spPr>
          <a:xfrm>
            <a:off x="838200" y="1809779"/>
            <a:ext cx="4600106" cy="2791076"/>
          </a:xfrm>
          <a:prstGeom prst="rect">
            <a:avLst/>
          </a:prstGeom>
        </p:spPr>
      </p:pic>
      <p:sp>
        <p:nvSpPr>
          <p:cNvPr id="11" name="CuadroTexto 10">
            <a:extLst>
              <a:ext uri="{FF2B5EF4-FFF2-40B4-BE49-F238E27FC236}">
                <a16:creationId xmlns:a16="http://schemas.microsoft.com/office/drawing/2014/main" id="{946B878A-48D5-5F90-6F53-BF67C285BA8C}"/>
              </a:ext>
            </a:extLst>
          </p:cNvPr>
          <p:cNvSpPr txBox="1"/>
          <p:nvPr/>
        </p:nvSpPr>
        <p:spPr>
          <a:xfrm>
            <a:off x="3711896" y="1473029"/>
            <a:ext cx="1164904" cy="369332"/>
          </a:xfrm>
          <a:prstGeom prst="rect">
            <a:avLst/>
          </a:prstGeom>
          <a:noFill/>
        </p:spPr>
        <p:txBody>
          <a:bodyPr wrap="square">
            <a:spAutoFit/>
          </a:bodyPr>
          <a:lstStyle/>
          <a:p>
            <a:r>
              <a:rPr lang="en-US" b="0" dirty="0"/>
              <a:t>0.6</a:t>
            </a:r>
            <a:endParaRPr lang="es-ES" dirty="0"/>
          </a:p>
        </p:txBody>
      </p:sp>
      <p:pic>
        <p:nvPicPr>
          <p:cNvPr id="13" name="Imagen 12">
            <a:extLst>
              <a:ext uri="{FF2B5EF4-FFF2-40B4-BE49-F238E27FC236}">
                <a16:creationId xmlns:a16="http://schemas.microsoft.com/office/drawing/2014/main" id="{CC8FD6A6-DC8F-34B2-F32B-BF8D792063E4}"/>
              </a:ext>
            </a:extLst>
          </p:cNvPr>
          <p:cNvPicPr>
            <a:picLocks noChangeAspect="1"/>
          </p:cNvPicPr>
          <p:nvPr/>
        </p:nvPicPr>
        <p:blipFill>
          <a:blip r:embed="rId7"/>
          <a:stretch>
            <a:fillRect/>
          </a:stretch>
        </p:blipFill>
        <p:spPr>
          <a:xfrm>
            <a:off x="6096000" y="1600200"/>
            <a:ext cx="1805165" cy="196067"/>
          </a:xfrm>
          <a:prstGeom prst="rect">
            <a:avLst/>
          </a:prstGeom>
        </p:spPr>
      </p:pic>
      <p:pic>
        <p:nvPicPr>
          <p:cNvPr id="15" name="Imagen 14" descr="Texto&#10;&#10;El contenido generado por IA puede ser incorrecto.">
            <a:extLst>
              <a:ext uri="{FF2B5EF4-FFF2-40B4-BE49-F238E27FC236}">
                <a16:creationId xmlns:a16="http://schemas.microsoft.com/office/drawing/2014/main" id="{D2121CA1-7314-B36E-3B5E-8F2EDE515625}"/>
              </a:ext>
            </a:extLst>
          </p:cNvPr>
          <p:cNvPicPr>
            <a:picLocks noChangeAspect="1"/>
          </p:cNvPicPr>
          <p:nvPr/>
        </p:nvPicPr>
        <p:blipFill>
          <a:blip r:embed="rId8"/>
          <a:stretch>
            <a:fillRect/>
          </a:stretch>
        </p:blipFill>
        <p:spPr>
          <a:xfrm>
            <a:off x="6096000" y="1766937"/>
            <a:ext cx="4611670" cy="2791076"/>
          </a:xfrm>
          <a:prstGeom prst="rect">
            <a:avLst/>
          </a:prstGeom>
        </p:spPr>
      </p:pic>
      <p:sp>
        <p:nvSpPr>
          <p:cNvPr id="17" name="CuadroTexto 16">
            <a:extLst>
              <a:ext uri="{FF2B5EF4-FFF2-40B4-BE49-F238E27FC236}">
                <a16:creationId xmlns:a16="http://schemas.microsoft.com/office/drawing/2014/main" id="{503342D0-E4D0-C580-D715-AF199B4AEFDA}"/>
              </a:ext>
            </a:extLst>
          </p:cNvPr>
          <p:cNvSpPr txBox="1"/>
          <p:nvPr/>
        </p:nvSpPr>
        <p:spPr>
          <a:xfrm>
            <a:off x="8312002" y="1473029"/>
            <a:ext cx="1164904" cy="369332"/>
          </a:xfrm>
          <a:prstGeom prst="rect">
            <a:avLst/>
          </a:prstGeom>
          <a:noFill/>
        </p:spPr>
        <p:txBody>
          <a:bodyPr wrap="square">
            <a:spAutoFit/>
          </a:bodyPr>
          <a:lstStyle/>
          <a:p>
            <a:r>
              <a:rPr lang="en-US" b="0" dirty="0"/>
              <a:t>0.7</a:t>
            </a:r>
            <a:endParaRPr lang="es-ES" dirty="0"/>
          </a:p>
        </p:txBody>
      </p:sp>
    </p:spTree>
    <p:extLst>
      <p:ext uri="{BB962C8B-B14F-4D97-AF65-F5344CB8AC3E}">
        <p14:creationId xmlns:p14="http://schemas.microsoft.com/office/powerpoint/2010/main" val="1558326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E7577-E8D5-FD6F-5D26-25ADA62BDEF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6405691-9CA8-5518-7BF2-FF6AD8CD251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E6EBFAC6-210B-4C4D-CA8D-8B53AD8E2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36AC1AD-4488-1158-0013-1FA06CAB22AC}"/>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DED19E48-5FE8-EF77-D4D0-489B1A2F54FA}"/>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D831B74-F9AA-07DB-82EB-AE9E8C3E899C}"/>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512865FC-C8F0-0D00-99A0-D723364D7BD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31398C15-25F3-51E3-0C17-66AFB1527C16}"/>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38200" y="1600200"/>
            <a:ext cx="2216002" cy="228367"/>
          </a:xfrm>
          <a:prstGeom prst="rect">
            <a:avLst/>
          </a:prstGeom>
        </p:spPr>
      </p:pic>
      <p:pic>
        <p:nvPicPr>
          <p:cNvPr id="9" name="Imagen 8">
            <a:extLst>
              <a:ext uri="{FF2B5EF4-FFF2-40B4-BE49-F238E27FC236}">
                <a16:creationId xmlns:a16="http://schemas.microsoft.com/office/drawing/2014/main" id="{2137EE7E-1551-29C7-ECAC-EB87976A9AE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8200" y="1821546"/>
            <a:ext cx="4600106" cy="2767542"/>
          </a:xfrm>
          <a:prstGeom prst="rect">
            <a:avLst/>
          </a:prstGeom>
        </p:spPr>
      </p:pic>
      <p:sp>
        <p:nvSpPr>
          <p:cNvPr id="11" name="CuadroTexto 10">
            <a:extLst>
              <a:ext uri="{FF2B5EF4-FFF2-40B4-BE49-F238E27FC236}">
                <a16:creationId xmlns:a16="http://schemas.microsoft.com/office/drawing/2014/main" id="{0461E6D8-79A2-BFA1-EA97-B9BC42D96A39}"/>
              </a:ext>
            </a:extLst>
          </p:cNvPr>
          <p:cNvSpPr txBox="1"/>
          <p:nvPr/>
        </p:nvSpPr>
        <p:spPr>
          <a:xfrm>
            <a:off x="3711896" y="1473029"/>
            <a:ext cx="1164904" cy="369332"/>
          </a:xfrm>
          <a:prstGeom prst="rect">
            <a:avLst/>
          </a:prstGeom>
          <a:noFill/>
        </p:spPr>
        <p:txBody>
          <a:bodyPr wrap="square">
            <a:spAutoFit/>
          </a:bodyPr>
          <a:lstStyle/>
          <a:p>
            <a:r>
              <a:rPr lang="en-US" b="0" dirty="0"/>
              <a:t>0.8</a:t>
            </a:r>
            <a:endParaRPr lang="es-ES" dirty="0"/>
          </a:p>
        </p:txBody>
      </p:sp>
      <p:pic>
        <p:nvPicPr>
          <p:cNvPr id="13" name="Imagen 12">
            <a:extLst>
              <a:ext uri="{FF2B5EF4-FFF2-40B4-BE49-F238E27FC236}">
                <a16:creationId xmlns:a16="http://schemas.microsoft.com/office/drawing/2014/main" id="{F8F653AB-BC93-7E11-48E6-65FFC572E4C2}"/>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096000" y="1600200"/>
            <a:ext cx="2065620" cy="174113"/>
          </a:xfrm>
          <a:prstGeom prst="rect">
            <a:avLst/>
          </a:prstGeom>
        </p:spPr>
      </p:pic>
      <p:pic>
        <p:nvPicPr>
          <p:cNvPr id="15" name="Imagen 14">
            <a:extLst>
              <a:ext uri="{FF2B5EF4-FFF2-40B4-BE49-F238E27FC236}">
                <a16:creationId xmlns:a16="http://schemas.microsoft.com/office/drawing/2014/main" id="{66D3B21F-B6AB-5771-72B9-1BAEAACB8D6A}"/>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102050" y="1753661"/>
            <a:ext cx="4718350" cy="2698329"/>
          </a:xfrm>
          <a:prstGeom prst="rect">
            <a:avLst/>
          </a:prstGeom>
        </p:spPr>
      </p:pic>
      <p:sp>
        <p:nvSpPr>
          <p:cNvPr id="17" name="CuadroTexto 16">
            <a:extLst>
              <a:ext uri="{FF2B5EF4-FFF2-40B4-BE49-F238E27FC236}">
                <a16:creationId xmlns:a16="http://schemas.microsoft.com/office/drawing/2014/main" id="{96007AF3-52B5-F881-B045-AF447B6F8137}"/>
              </a:ext>
            </a:extLst>
          </p:cNvPr>
          <p:cNvSpPr txBox="1"/>
          <p:nvPr/>
        </p:nvSpPr>
        <p:spPr>
          <a:xfrm>
            <a:off x="8312002" y="1473029"/>
            <a:ext cx="1164904" cy="369332"/>
          </a:xfrm>
          <a:prstGeom prst="rect">
            <a:avLst/>
          </a:prstGeom>
          <a:noFill/>
        </p:spPr>
        <p:txBody>
          <a:bodyPr wrap="square">
            <a:spAutoFit/>
          </a:bodyPr>
          <a:lstStyle/>
          <a:p>
            <a:r>
              <a:rPr lang="en-US" b="0" dirty="0"/>
              <a:t>0.9</a:t>
            </a:r>
            <a:endParaRPr lang="es-ES" dirty="0"/>
          </a:p>
        </p:txBody>
      </p:sp>
    </p:spTree>
    <p:extLst>
      <p:ext uri="{BB962C8B-B14F-4D97-AF65-F5344CB8AC3E}">
        <p14:creationId xmlns:p14="http://schemas.microsoft.com/office/powerpoint/2010/main" val="6882206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654EF-2EE9-F75C-A6F5-272A32A51B1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B9EFDD6-815F-D03D-3A81-2D874182125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9F27AEE9-6D49-43FE-B150-D11B094AA8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6D707E3-6C05-CF6E-F110-1F94399CDC43}"/>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FF5ED03D-C13D-F840-990D-818C3D0CAD5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772226-26B3-86C4-1E0C-62BC4AE139A8}"/>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92CDBEF-DC12-E2E9-B015-8975BA8E411E}"/>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271E08A3-8956-9F70-01BC-3EC42EEE1A5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38200" y="1624891"/>
            <a:ext cx="2216002" cy="178984"/>
          </a:xfrm>
          <a:prstGeom prst="rect">
            <a:avLst/>
          </a:prstGeom>
        </p:spPr>
      </p:pic>
      <p:pic>
        <p:nvPicPr>
          <p:cNvPr id="9" name="Imagen 8">
            <a:extLst>
              <a:ext uri="{FF2B5EF4-FFF2-40B4-BE49-F238E27FC236}">
                <a16:creationId xmlns:a16="http://schemas.microsoft.com/office/drawing/2014/main" id="{2535C19C-C54F-C79C-91F9-56EA60CD828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8199" y="1803875"/>
            <a:ext cx="4666675" cy="2763463"/>
          </a:xfrm>
          <a:prstGeom prst="rect">
            <a:avLst/>
          </a:prstGeom>
        </p:spPr>
      </p:pic>
      <p:sp>
        <p:nvSpPr>
          <p:cNvPr id="11" name="CuadroTexto 10">
            <a:extLst>
              <a:ext uri="{FF2B5EF4-FFF2-40B4-BE49-F238E27FC236}">
                <a16:creationId xmlns:a16="http://schemas.microsoft.com/office/drawing/2014/main" id="{BFFCA53F-D368-A7E9-DBC2-66CA9795A2B9}"/>
              </a:ext>
            </a:extLst>
          </p:cNvPr>
          <p:cNvSpPr txBox="1"/>
          <p:nvPr/>
        </p:nvSpPr>
        <p:spPr>
          <a:xfrm>
            <a:off x="3711896" y="1473029"/>
            <a:ext cx="1164904" cy="369332"/>
          </a:xfrm>
          <a:prstGeom prst="rect">
            <a:avLst/>
          </a:prstGeom>
          <a:noFill/>
        </p:spPr>
        <p:txBody>
          <a:bodyPr wrap="square">
            <a:spAutoFit/>
          </a:bodyPr>
          <a:lstStyle/>
          <a:p>
            <a:r>
              <a:rPr lang="en-US" b="0" dirty="0"/>
              <a:t>1</a:t>
            </a:r>
            <a:endParaRPr lang="es-ES" dirty="0"/>
          </a:p>
        </p:txBody>
      </p:sp>
      <p:pic>
        <p:nvPicPr>
          <p:cNvPr id="13" name="Imagen 12">
            <a:extLst>
              <a:ext uri="{FF2B5EF4-FFF2-40B4-BE49-F238E27FC236}">
                <a16:creationId xmlns:a16="http://schemas.microsoft.com/office/drawing/2014/main" id="{C3FD83D8-19D3-6060-C169-6A485800685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43489" y="1600200"/>
            <a:ext cx="1970641" cy="174113"/>
          </a:xfrm>
          <a:prstGeom prst="rect">
            <a:avLst/>
          </a:prstGeom>
        </p:spPr>
      </p:pic>
      <p:pic>
        <p:nvPicPr>
          <p:cNvPr id="15" name="Imagen 14">
            <a:extLst>
              <a:ext uri="{FF2B5EF4-FFF2-40B4-BE49-F238E27FC236}">
                <a16:creationId xmlns:a16="http://schemas.microsoft.com/office/drawing/2014/main" id="{F6C32B72-33DA-13E4-A228-D52A98C4F969}"/>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143526" y="1753661"/>
            <a:ext cx="4635397" cy="2698329"/>
          </a:xfrm>
          <a:prstGeom prst="rect">
            <a:avLst/>
          </a:prstGeom>
        </p:spPr>
      </p:pic>
      <p:sp>
        <p:nvSpPr>
          <p:cNvPr id="17" name="CuadroTexto 16">
            <a:extLst>
              <a:ext uri="{FF2B5EF4-FFF2-40B4-BE49-F238E27FC236}">
                <a16:creationId xmlns:a16="http://schemas.microsoft.com/office/drawing/2014/main" id="{754E4C58-0185-3587-9FDB-8E8BA47D5D88}"/>
              </a:ext>
            </a:extLst>
          </p:cNvPr>
          <p:cNvSpPr txBox="1"/>
          <p:nvPr/>
        </p:nvSpPr>
        <p:spPr>
          <a:xfrm>
            <a:off x="8312002" y="1473029"/>
            <a:ext cx="1164904" cy="369332"/>
          </a:xfrm>
          <a:prstGeom prst="rect">
            <a:avLst/>
          </a:prstGeom>
          <a:noFill/>
        </p:spPr>
        <p:txBody>
          <a:bodyPr wrap="square">
            <a:spAutoFit/>
          </a:bodyPr>
          <a:lstStyle/>
          <a:p>
            <a:r>
              <a:rPr lang="en-US" b="0" dirty="0"/>
              <a:t>1.1</a:t>
            </a:r>
            <a:endParaRPr lang="es-ES" dirty="0"/>
          </a:p>
        </p:txBody>
      </p:sp>
    </p:spTree>
    <p:extLst>
      <p:ext uri="{BB962C8B-B14F-4D97-AF65-F5344CB8AC3E}">
        <p14:creationId xmlns:p14="http://schemas.microsoft.com/office/powerpoint/2010/main" val="2995232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1E198-997A-0325-3E76-09BC36D409D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D48E75-C7AE-8EB8-E552-617E488851A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84F351C9-CB1C-D4F6-76C7-11F8CB8E18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1E12B20-D35D-20FC-B56E-3DAABE23D876}"/>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2F0867CA-E1DB-35F7-1C68-FB97FE83035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5E5F751-ED4E-7549-171B-16BC28D02C5C}"/>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768E8361-B5E6-70CD-A1D5-38EDB64D8FFF}"/>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2DFDA62D-CE9C-1398-3AFE-C9E87736D3F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981245" y="1624891"/>
            <a:ext cx="1929911" cy="178984"/>
          </a:xfrm>
          <a:prstGeom prst="rect">
            <a:avLst/>
          </a:prstGeom>
        </p:spPr>
      </p:pic>
      <p:pic>
        <p:nvPicPr>
          <p:cNvPr id="9" name="Imagen 8">
            <a:extLst>
              <a:ext uri="{FF2B5EF4-FFF2-40B4-BE49-F238E27FC236}">
                <a16:creationId xmlns:a16="http://schemas.microsoft.com/office/drawing/2014/main" id="{5C6803AA-34D8-BD7F-FA82-3359B26B8E2C}"/>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981245" y="1803875"/>
            <a:ext cx="4666675" cy="2688493"/>
          </a:xfrm>
          <a:prstGeom prst="rect">
            <a:avLst/>
          </a:prstGeom>
        </p:spPr>
      </p:pic>
      <p:sp>
        <p:nvSpPr>
          <p:cNvPr id="11" name="CuadroTexto 10">
            <a:extLst>
              <a:ext uri="{FF2B5EF4-FFF2-40B4-BE49-F238E27FC236}">
                <a16:creationId xmlns:a16="http://schemas.microsoft.com/office/drawing/2014/main" id="{E71F07C0-574B-A92D-8A40-A8B8CFB4E982}"/>
              </a:ext>
            </a:extLst>
          </p:cNvPr>
          <p:cNvSpPr txBox="1"/>
          <p:nvPr/>
        </p:nvSpPr>
        <p:spPr>
          <a:xfrm>
            <a:off x="3711896" y="1473029"/>
            <a:ext cx="1164904" cy="369332"/>
          </a:xfrm>
          <a:prstGeom prst="rect">
            <a:avLst/>
          </a:prstGeom>
          <a:noFill/>
        </p:spPr>
        <p:txBody>
          <a:bodyPr wrap="square">
            <a:spAutoFit/>
          </a:bodyPr>
          <a:lstStyle/>
          <a:p>
            <a:r>
              <a:rPr lang="en-US" b="0" dirty="0"/>
              <a:t>1.2</a:t>
            </a:r>
            <a:endParaRPr lang="es-ES" dirty="0"/>
          </a:p>
        </p:txBody>
      </p:sp>
      <p:pic>
        <p:nvPicPr>
          <p:cNvPr id="13" name="Imagen 12">
            <a:extLst>
              <a:ext uri="{FF2B5EF4-FFF2-40B4-BE49-F238E27FC236}">
                <a16:creationId xmlns:a16="http://schemas.microsoft.com/office/drawing/2014/main" id="{A422FC68-E439-AD02-8FA5-BFC68DBE68A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43489" y="1612041"/>
            <a:ext cx="1970641" cy="150430"/>
          </a:xfrm>
          <a:prstGeom prst="rect">
            <a:avLst/>
          </a:prstGeom>
        </p:spPr>
      </p:pic>
      <p:pic>
        <p:nvPicPr>
          <p:cNvPr id="15" name="Imagen 14">
            <a:extLst>
              <a:ext uri="{FF2B5EF4-FFF2-40B4-BE49-F238E27FC236}">
                <a16:creationId xmlns:a16="http://schemas.microsoft.com/office/drawing/2014/main" id="{269F151F-893D-8B85-55E2-F4DBBE508C7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143526" y="1768735"/>
            <a:ext cx="4635397" cy="2668180"/>
          </a:xfrm>
          <a:prstGeom prst="rect">
            <a:avLst/>
          </a:prstGeom>
        </p:spPr>
      </p:pic>
      <p:sp>
        <p:nvSpPr>
          <p:cNvPr id="17" name="CuadroTexto 16">
            <a:extLst>
              <a:ext uri="{FF2B5EF4-FFF2-40B4-BE49-F238E27FC236}">
                <a16:creationId xmlns:a16="http://schemas.microsoft.com/office/drawing/2014/main" id="{A659D8CD-027E-2DEA-EE4B-7B3CCAFB4E1E}"/>
              </a:ext>
            </a:extLst>
          </p:cNvPr>
          <p:cNvSpPr txBox="1"/>
          <p:nvPr/>
        </p:nvSpPr>
        <p:spPr>
          <a:xfrm>
            <a:off x="8312002" y="1473029"/>
            <a:ext cx="1164904" cy="369332"/>
          </a:xfrm>
          <a:prstGeom prst="rect">
            <a:avLst/>
          </a:prstGeom>
          <a:noFill/>
        </p:spPr>
        <p:txBody>
          <a:bodyPr wrap="square">
            <a:spAutoFit/>
          </a:bodyPr>
          <a:lstStyle/>
          <a:p>
            <a:r>
              <a:rPr lang="en-US" b="0" dirty="0"/>
              <a:t>1.3</a:t>
            </a:r>
            <a:endParaRPr lang="es-ES" dirty="0"/>
          </a:p>
        </p:txBody>
      </p:sp>
    </p:spTree>
    <p:extLst>
      <p:ext uri="{BB962C8B-B14F-4D97-AF65-F5344CB8AC3E}">
        <p14:creationId xmlns:p14="http://schemas.microsoft.com/office/powerpoint/2010/main" val="2500306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1F339-D7B1-2F52-114A-32DE2D43CBE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B1B822C-3CCC-95D4-A07F-C0E16B4BC5D2}"/>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97C35D35-1DC5-AB8B-5EDF-357EF4B8CD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8275211-BC17-9865-6199-BB87D31DD899}"/>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A637546-F028-B3D4-54C5-D2B1A70FAAF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0D4A1F90-C7F7-8784-5B42-7F2A723A459E}"/>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4AC2FC1F-8ABA-148C-F09A-7E6CC8A6B48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B160CAEE-86CC-F8A0-9344-BCADFC955B7B}"/>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981245" y="1621461"/>
            <a:ext cx="1894295" cy="182414"/>
          </a:xfrm>
          <a:prstGeom prst="rect">
            <a:avLst/>
          </a:prstGeom>
        </p:spPr>
      </p:pic>
      <p:pic>
        <p:nvPicPr>
          <p:cNvPr id="9" name="Imagen 8">
            <a:extLst>
              <a:ext uri="{FF2B5EF4-FFF2-40B4-BE49-F238E27FC236}">
                <a16:creationId xmlns:a16="http://schemas.microsoft.com/office/drawing/2014/main" id="{C9BAB912-9A89-48C2-52E4-0215B263C54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981245" y="1803875"/>
            <a:ext cx="4783461" cy="2624418"/>
          </a:xfrm>
          <a:prstGeom prst="rect">
            <a:avLst/>
          </a:prstGeom>
        </p:spPr>
      </p:pic>
      <p:sp>
        <p:nvSpPr>
          <p:cNvPr id="11" name="CuadroTexto 10">
            <a:extLst>
              <a:ext uri="{FF2B5EF4-FFF2-40B4-BE49-F238E27FC236}">
                <a16:creationId xmlns:a16="http://schemas.microsoft.com/office/drawing/2014/main" id="{6441C694-DE25-2F87-6D08-1510FBA68E35}"/>
              </a:ext>
            </a:extLst>
          </p:cNvPr>
          <p:cNvSpPr txBox="1"/>
          <p:nvPr/>
        </p:nvSpPr>
        <p:spPr>
          <a:xfrm>
            <a:off x="3711896" y="1473029"/>
            <a:ext cx="1164904" cy="369332"/>
          </a:xfrm>
          <a:prstGeom prst="rect">
            <a:avLst/>
          </a:prstGeom>
          <a:noFill/>
        </p:spPr>
        <p:txBody>
          <a:bodyPr wrap="square">
            <a:spAutoFit/>
          </a:bodyPr>
          <a:lstStyle/>
          <a:p>
            <a:r>
              <a:rPr lang="en-US" b="0" dirty="0"/>
              <a:t>1.4</a:t>
            </a:r>
            <a:endParaRPr lang="es-ES" dirty="0"/>
          </a:p>
        </p:txBody>
      </p:sp>
      <p:pic>
        <p:nvPicPr>
          <p:cNvPr id="13" name="Imagen 12">
            <a:extLst>
              <a:ext uri="{FF2B5EF4-FFF2-40B4-BE49-F238E27FC236}">
                <a16:creationId xmlns:a16="http://schemas.microsoft.com/office/drawing/2014/main" id="{6615A37C-A2C0-C9D6-60C6-6AE429501BC7}"/>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43489" y="1612041"/>
            <a:ext cx="1970641" cy="150430"/>
          </a:xfrm>
          <a:prstGeom prst="rect">
            <a:avLst/>
          </a:prstGeom>
        </p:spPr>
      </p:pic>
      <p:pic>
        <p:nvPicPr>
          <p:cNvPr id="15" name="Imagen 14">
            <a:extLst>
              <a:ext uri="{FF2B5EF4-FFF2-40B4-BE49-F238E27FC236}">
                <a16:creationId xmlns:a16="http://schemas.microsoft.com/office/drawing/2014/main" id="{30BC1189-AB69-B3CD-EFA0-416955277E15}"/>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143526" y="1768735"/>
            <a:ext cx="4635397" cy="2668180"/>
          </a:xfrm>
          <a:prstGeom prst="rect">
            <a:avLst/>
          </a:prstGeom>
        </p:spPr>
      </p:pic>
      <p:sp>
        <p:nvSpPr>
          <p:cNvPr id="17" name="CuadroTexto 16">
            <a:extLst>
              <a:ext uri="{FF2B5EF4-FFF2-40B4-BE49-F238E27FC236}">
                <a16:creationId xmlns:a16="http://schemas.microsoft.com/office/drawing/2014/main" id="{8F74E480-A65F-3099-D730-04822C41DAF3}"/>
              </a:ext>
            </a:extLst>
          </p:cNvPr>
          <p:cNvSpPr txBox="1"/>
          <p:nvPr/>
        </p:nvSpPr>
        <p:spPr>
          <a:xfrm>
            <a:off x="8312002" y="1473029"/>
            <a:ext cx="1164904" cy="369332"/>
          </a:xfrm>
          <a:prstGeom prst="rect">
            <a:avLst/>
          </a:prstGeom>
          <a:noFill/>
        </p:spPr>
        <p:txBody>
          <a:bodyPr wrap="square">
            <a:spAutoFit/>
          </a:bodyPr>
          <a:lstStyle/>
          <a:p>
            <a:r>
              <a:rPr lang="en-US" b="0" dirty="0"/>
              <a:t>1.5</a:t>
            </a:r>
            <a:endParaRPr lang="es-ES" dirty="0"/>
          </a:p>
        </p:txBody>
      </p:sp>
    </p:spTree>
    <p:extLst>
      <p:ext uri="{BB962C8B-B14F-4D97-AF65-F5344CB8AC3E}">
        <p14:creationId xmlns:p14="http://schemas.microsoft.com/office/powerpoint/2010/main" val="30346803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59278-AF37-F71B-2135-A1110553AFB5}"/>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60F152C-BAA6-5066-FF34-C09B4A286999}"/>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815EAC4B-7B57-B8D5-0CF0-5BA26E2429A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3FDAC7D-FC8A-8B82-DCFF-C0C0BBC34370}"/>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EB5B2EA-60DD-A0A5-6889-AD44F47974F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7A25512-DB50-D1F4-EF06-B1AC63452B5B}"/>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7B93D05-59BA-73E3-0BCA-F522570DAC09}"/>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5E5201F-CA6F-721E-A5DD-36DCD669EA56}"/>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spTree>
    <p:extLst>
      <p:ext uri="{BB962C8B-B14F-4D97-AF65-F5344CB8AC3E}">
        <p14:creationId xmlns:p14="http://schemas.microsoft.com/office/powerpoint/2010/main" val="394653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30832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directional coupler </a:t>
            </a:r>
            <a:r>
              <a:rPr lang="en-US" sz="1200" dirty="0" err="1">
                <a:latin typeface="Arial" panose="020B0604020202020204" pitchFamily="34" charset="0"/>
                <a:cs typeface="Arial" panose="020B0604020202020204" pitchFamily="34" charset="0"/>
              </a:rPr>
              <a:t>acercamos</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guias</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major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sería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necesaria,gap</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sufran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a:t>
            </a:r>
          </a:p>
          <a:p>
            <a:pPr algn="just"/>
            <a:r>
              <a:rPr lang="en-US" sz="1200" dirty="0" err="1">
                <a:latin typeface="Arial" panose="020B0604020202020204" pitchFamily="34" charset="0"/>
                <a:cs typeface="Arial" panose="020B0604020202020204" pitchFamily="34" charset="0"/>
              </a:rPr>
              <a:t>buscar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haya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del 1%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583019" y="4816359"/>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#hemos </a:t>
            </a:r>
            <a:r>
              <a:rPr lang="en-US" sz="1200" dirty="0" err="1">
                <a:latin typeface="Arial" panose="020B0604020202020204" pitchFamily="34" charset="0"/>
                <a:cs typeface="Arial" panose="020B0604020202020204" pitchFamily="34" charset="0"/>
              </a:rPr>
              <a:t>seleccionado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/2, </a:t>
            </a:r>
            <a:r>
              <a:rPr lang="en-US" sz="1200" dirty="0" err="1">
                <a:latin typeface="Arial" panose="020B0604020202020204" pitchFamily="34" charset="0"/>
                <a:cs typeface="Arial" panose="020B0604020202020204" pitchFamily="34" charset="0"/>
              </a:rPr>
              <a:t>demosle</a:t>
            </a:r>
            <a:r>
              <a:rPr lang="en-US" sz="1200" dirty="0">
                <a:latin typeface="Arial" panose="020B0604020202020204" pitchFamily="34" charset="0"/>
                <a:cs typeface="Arial" panose="020B0604020202020204" pitchFamily="34" charset="0"/>
              </a:rPr>
              <a:t> 1 um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o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#Lo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con </a:t>
            </a: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918</TotalTime>
  <Words>1428</Words>
  <Application>Microsoft Office PowerPoint</Application>
  <PresentationFormat>Panorámica</PresentationFormat>
  <Paragraphs>266</Paragraphs>
  <Slides>23</Slides>
  <Notes>18</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23</vt:i4>
      </vt:variant>
    </vt:vector>
  </HeadingPairs>
  <TitlesOfParts>
    <vt:vector size="31"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#1 – Directional coupler length and coupling coefficient Wavelength 1.5 µm – width 1.2 µm – gap 0.6 µm</vt:lpstr>
      <vt:lpstr>Learning outcome #1 – Directional coupler length and coupling coefficient Wavelength 1.5 µm – width 1.2 µm – gap 0.6 µm</vt:lpstr>
      <vt:lpstr>Learning outcome #2 – 2x2 Directional Coupler Gap 0.6 - 1.6 µm (step 0.1 µm) – Wavelength 1.55 µm </vt:lpstr>
      <vt:lpstr>Learning outcome #2 – 2x2 Directional Coupler Gap 0.6 - 1.6 µm (step 0.1 µm) – Wavelength 1.55 µm </vt:lpstr>
      <vt:lpstr>Learning outcome #2 – 2x2 Directional Coupler Gap 0.6 - 1.6 µm (step 0.1 µm) – Wavelength 1.55 µm </vt:lpstr>
      <vt:lpstr>Learning outcome #2 – 2x2 Directional Coupler Gap 0.6 - 1.6 µm (step 0.1 µm) – Wavelength 1.55 µm </vt:lpstr>
      <vt:lpstr>Learning outcome #2 – 2x2 Directional Coupler Gap 0.6 - 1.6 µm (step 0.1 µm) – Wavelength 1.55 µm </vt:lpstr>
      <vt:lpstr>Learning outcome #2 – 2x2 Directional Coupler Gap 0.6 - 1.6 µm (step 0.1 µm) – Wavelength 1.55 µm </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Roberto José Fernández Sevilla</cp:lastModifiedBy>
  <cp:revision>15</cp:revision>
  <dcterms:created xsi:type="dcterms:W3CDTF">2025-01-27T02:46:57Z</dcterms:created>
  <dcterms:modified xsi:type="dcterms:W3CDTF">2026-03-02T10:44:33Z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